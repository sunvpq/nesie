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0D5AE-A404-4217-AF40-A5018F1F49F9}" type="datetimeFigureOut">
              <a:rPr lang="ru-KZ" smtClean="0"/>
              <a:t>07.04.2026</a:t>
            </a:fld>
            <a:endParaRPr lang="ru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4E1BC-B9A4-46D9-A1B9-678D194BB3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2405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4E1BC-B9A4-46D9-A1B9-678D194BB3AB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9270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84167" y="1143000"/>
            <a:ext cx="4023360" cy="4023360"/>
          </a:xfrm>
          <a:prstGeom prst="ellipse">
            <a:avLst/>
          </a:prstGeom>
          <a:solidFill>
            <a:srgbClr val="1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Nesie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99"/>
                </a:solidFill>
                <a:latin typeface="Calibri"/>
              </a:defRPr>
            </a:pPr>
            <a:r>
              <a:t>Кредитный рейтинг под контролем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FF00"/>
                </a:solidFill>
                <a:latin typeface="Calibri"/>
              </a:defRPr>
            </a:pPr>
            <a:r>
              <a:t>Финтех стартап  ·  Атырау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lang="ru-RU" dirty="0"/>
              <a:t>Казахстан - Кредитный кризис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63727" y="1828800"/>
            <a:ext cx="2560320" cy="292608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2327" y="20574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AFF00"/>
                </a:solidFill>
                <a:latin typeface="Calibri"/>
              </a:defRPr>
            </a:pPr>
            <a:r>
              <a:t>10.2 млн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активных заёмщиков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8367" y="1828800"/>
            <a:ext cx="2560320" cy="292608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26967" y="20574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AFF00"/>
                </a:solidFill>
                <a:latin typeface="Calibri"/>
              </a:defRPr>
            </a:pPr>
            <a:r>
              <a:t>2.3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кредита на одного человека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2560320" cy="292608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1607" y="20574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AFF00"/>
                </a:solidFill>
                <a:latin typeface="Calibri"/>
              </a:defRPr>
            </a:pPr>
            <a:r>
              <a:t>14.7 трлн ₸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объём кредитования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7647" y="1828800"/>
            <a:ext cx="2560320" cy="292608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96247" y="20574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AFF00"/>
                </a:solidFill>
                <a:latin typeface="Calibri"/>
              </a:defRPr>
            </a:pPr>
            <a:r>
              <a:t>34%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казахстанцев — долговая</a:t>
            </a:r>
            <a:br/>
            <a:r>
              <a:t>нагрузка выше 50% дохода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История Адила, 26 лет, Атырау</a:t>
            </a:r>
          </a:p>
        </p:txBody>
      </p:sp>
      <p:sp>
        <p:nvSpPr>
          <p:cNvPr id="3" name="Oval 2"/>
          <p:cNvSpPr/>
          <p:nvPr/>
        </p:nvSpPr>
        <p:spPr>
          <a:xfrm>
            <a:off x="3474720" y="1444752"/>
            <a:ext cx="201168" cy="201168"/>
          </a:xfrm>
          <a:prstGeom prst="ellipse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47872" y="1664208"/>
            <a:ext cx="3810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Январь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Взял кредит на телефон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FF00"/>
                </a:solidFill>
                <a:latin typeface="Calibri"/>
              </a:defRPr>
            </a:pPr>
            <a:r>
              <a:t>Скор: 680 ✓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2221992"/>
            <a:ext cx="201168" cy="20116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47872" y="2441448"/>
            <a:ext cx="3810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Март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Помог сестре, ещё кредит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Скор: 650 (не знает)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2999232"/>
            <a:ext cx="201168" cy="20116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47872" y="3218688"/>
            <a:ext cx="3810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Июнь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Кредит на холодильник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Скор: 590 (не знает)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3776472"/>
            <a:ext cx="201168" cy="201168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47872" y="3995928"/>
            <a:ext cx="3810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Август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Просрочил на 12 дней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Calibri"/>
              </a:defRPr>
            </a:pPr>
            <a:r>
              <a:t>Скор: 530 (не знает)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553712"/>
            <a:ext cx="201168" cy="201168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47872" y="4773168"/>
            <a:ext cx="3810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Ноябрь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Подал на автокредит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Calibri"/>
              </a:defRPr>
            </a:pPr>
            <a:r>
              <a:t>ОТКАЗ ✗</a:t>
            </a:r>
          </a:p>
        </p:txBody>
      </p:sp>
      <p:sp>
        <p:nvSpPr>
          <p:cNvPr id="28" name="Oval 27"/>
          <p:cNvSpPr/>
          <p:nvPr/>
        </p:nvSpPr>
        <p:spPr>
          <a:xfrm>
            <a:off x="3474720" y="5330952"/>
            <a:ext cx="201168" cy="201168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Ноябрь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МФО под 98% годовых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Calibri"/>
              </a:defRPr>
            </a:pPr>
            <a:r>
              <a:t>Долговая ловушка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Люди узнают о проблеме когда уже поздно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828800"/>
            <a:ext cx="9144000" cy="128016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20574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🔒  </a:t>
            </a:r>
            <a:r>
              <a:rPr dirty="0" err="1"/>
              <a:t>Скор</a:t>
            </a:r>
            <a:r>
              <a:rPr dirty="0"/>
              <a:t> </a:t>
            </a:r>
            <a:r>
              <a:rPr dirty="0" err="1"/>
              <a:t>существует</a:t>
            </a:r>
            <a:r>
              <a:rPr dirty="0"/>
              <a:t> —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скрыт</a:t>
            </a:r>
            <a:endParaRPr dirty="0"/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rPr dirty="0"/>
              <a:t>ПКБ </a:t>
            </a:r>
            <a:r>
              <a:rPr dirty="0" err="1"/>
              <a:t>берёт</a:t>
            </a:r>
            <a:r>
              <a:rPr dirty="0"/>
              <a:t> 400₸ и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неудобный</a:t>
            </a:r>
            <a:r>
              <a:rPr dirty="0"/>
              <a:t> </a:t>
            </a:r>
            <a:r>
              <a:rPr dirty="0" err="1"/>
              <a:t>сайт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523847" y="3337560"/>
            <a:ext cx="9144000" cy="128016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2447" y="3566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🏦  Кредиты в разных банках — нет единой картины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Человек не видит общую нагрузку и не понимает совокупный риск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3847" y="4846320"/>
            <a:ext cx="9144000" cy="128016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52447" y="50749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⚠️  Никто не предупреждает до оформления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Решение о новом кредите принимается вслепую, без данных о последствиях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8"/>
    </mc:Choice>
    <mc:Fallback xmlns="">
      <p:transition spd="slow" advTm="150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Calibri"/>
              </a:defRPr>
            </a:pPr>
            <a:r>
              <a:t>Nesie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Первое приложение, которое показывает казахстанцам</a:t>
            </a:r>
            <a:br/>
            <a:r>
              <a:t>их реальное финансовое здоровье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3474720"/>
            <a:ext cx="3200400" cy="256032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087" y="370332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AFF00"/>
                </a:solidFill>
                <a:latin typeface="Calibri"/>
              </a:defRPr>
            </a:pPr>
            <a:r>
              <a:t>Живой скор из ПКБ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t>Актуальный кредитный рейтинг</a:t>
            </a:r>
            <a:br/>
            <a:r>
              <a:t>в одно касание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3474720"/>
            <a:ext cx="3200400" cy="256032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24247" y="370332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AFF00"/>
                </a:solidFill>
                <a:latin typeface="Calibri"/>
              </a:defRPr>
            </a:pPr>
            <a:r>
              <a:t>Все кредиты в одном месте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t>Единая картина долговой</a:t>
            </a:r>
            <a:br/>
            <a:r>
              <a:t>нагрузки со всех банков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807" y="3474720"/>
            <a:ext cx="3200400" cy="256032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90407" y="370332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AFF00"/>
                </a:solidFill>
                <a:latin typeface="Calibri"/>
              </a:defRPr>
            </a:pPr>
            <a:r>
              <a:t>Симулятор последствий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t>Увидь как изменится скор</a:t>
            </a:r>
            <a:br/>
            <a:r>
              <a:t>до оформления кредита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0"/>
    </mc:Choice>
    <mc:Fallback xmlns="">
      <p:transition spd="slow" advTm="7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657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выглядит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523847" y="1280160"/>
            <a:ext cx="2743200" cy="5029200"/>
          </a:xfrm>
          <a:prstGeom prst="roundRect">
            <a:avLst/>
          </a:prstGeom>
          <a:solidFill>
            <a:srgbClr val="0F0F0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38247" y="1280160"/>
            <a:ext cx="914400" cy="201168"/>
          </a:xfrm>
          <a:prstGeom prst="roundRect">
            <a:avLst/>
          </a:prstGeom>
          <a:solidFill>
            <a:srgbClr val="0A0A0A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98167" y="169164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AFF00"/>
                </a:solidFill>
                <a:latin typeface="Calibri"/>
              </a:defRPr>
            </a:pPr>
            <a:r>
              <a:t>714</a:t>
            </a:r>
          </a:p>
          <a:p>
            <a:pPr algn="ctr">
              <a:defRPr sz="4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600" b="0">
                <a:solidFill>
                  <a:srgbClr val="AAFF00"/>
                </a:solidFill>
                <a:latin typeface="Calibri"/>
              </a:defRPr>
            </a:pPr>
            <a:r>
              <a:t>Хороший рейтинг</a:t>
            </a:r>
          </a:p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Платежи вовремя      96%</a:t>
            </a:r>
          </a:p>
          <a:p>
            <a:pPr algn="ctr">
              <a:defRPr sz="1300" b="0">
                <a:solidFill>
                  <a:srgbClr val="FFCC00"/>
                </a:solidFill>
                <a:latin typeface="Calibri"/>
              </a:defRPr>
            </a:pPr>
            <a:r>
              <a:t>Нагрузка                  42%</a:t>
            </a:r>
          </a:p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Активных кредитов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847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Скор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1280160"/>
            <a:ext cx="2743200" cy="5029200"/>
          </a:xfrm>
          <a:prstGeom prst="roundRect">
            <a:avLst/>
          </a:prstGeom>
          <a:solidFill>
            <a:srgbClr val="0F0F0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38647" y="1280160"/>
            <a:ext cx="914400" cy="201168"/>
          </a:xfrm>
          <a:prstGeom prst="roundRect">
            <a:avLst/>
          </a:prstGeom>
          <a:solidFill>
            <a:srgbClr val="0A0A0A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98567" y="169164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Kaspi — телефон</a:t>
            </a:r>
          </a:p>
          <a:p>
            <a:pPr algn="ctr">
              <a:defRPr sz="1400" b="1">
                <a:solidFill>
                  <a:srgbClr val="AAFF00"/>
                </a:solidFill>
                <a:latin typeface="Calibri"/>
              </a:defRPr>
            </a:pPr>
            <a:r>
              <a:t>142 000 ₸</a:t>
            </a:r>
          </a:p>
          <a:p>
            <a:pPr algn="ctr">
              <a:defRPr sz="4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Halyk — наличные</a:t>
            </a:r>
          </a:p>
          <a:p>
            <a:pPr algn="ctr">
              <a:defRPr sz="1400" b="1">
                <a:solidFill>
                  <a:srgbClr val="AAFF00"/>
                </a:solidFill>
                <a:latin typeface="Calibri"/>
              </a:defRPr>
            </a:pPr>
            <a:r>
              <a:t>580 000 ₸</a:t>
            </a:r>
          </a:p>
          <a:p>
            <a:pPr algn="ctr">
              <a:defRPr sz="4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Forte — холодильник</a:t>
            </a:r>
          </a:p>
          <a:p>
            <a:pPr algn="ctr">
              <a:defRPr sz="1400" b="1">
                <a:solidFill>
                  <a:srgbClr val="AAFF00"/>
                </a:solidFill>
                <a:latin typeface="Calibri"/>
              </a:defRPr>
            </a:pPr>
            <a:r>
              <a:t>215 000 ₸</a:t>
            </a:r>
          </a:p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800" b="1">
                <a:solidFill>
                  <a:srgbClr val="AAFF00"/>
                </a:solidFill>
                <a:latin typeface="Calibri"/>
              </a:defRPr>
            </a:pPr>
            <a:r>
              <a:t>Итого: 937 000 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Мои кредиты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47" y="1280160"/>
            <a:ext cx="2743200" cy="5029200"/>
          </a:xfrm>
          <a:prstGeom prst="roundRect">
            <a:avLst/>
          </a:prstGeom>
          <a:solidFill>
            <a:srgbClr val="0F0F0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39047" y="1280160"/>
            <a:ext cx="914400" cy="201168"/>
          </a:xfrm>
          <a:prstGeom prst="roundRect">
            <a:avLst/>
          </a:prstGeom>
          <a:solidFill>
            <a:srgbClr val="0A0A0A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8967" y="169164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Новый кредит: 500 000 ₸</a:t>
            </a:r>
          </a:p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СЕЙЧАС</a:t>
            </a:r>
          </a:p>
          <a:p>
            <a:pPr algn="ctr">
              <a:defRPr sz="4000" b="1">
                <a:solidFill>
                  <a:srgbClr val="AAFF00"/>
                </a:solidFill>
                <a:latin typeface="Calibri"/>
              </a:defRPr>
            </a:pPr>
            <a:r>
              <a:t>714</a:t>
            </a:r>
          </a:p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ПОСЛЕ</a:t>
            </a:r>
          </a:p>
          <a:p>
            <a:pPr algn="ctr">
              <a:defRPr sz="4000" b="1">
                <a:solidFill>
                  <a:srgbClr val="FFCC00"/>
                </a:solidFill>
                <a:latin typeface="Calibri"/>
              </a:defRPr>
            </a:pPr>
            <a:r>
              <a:t>658</a:t>
            </a:r>
          </a:p>
          <a:p>
            <a:pPr algn="ctr">
              <a:defRPr sz="600" b="0">
                <a:solidFill>
                  <a:srgbClr val="999999"/>
                </a:solidFill>
                <a:latin typeface="Calibri"/>
              </a:defRPr>
            </a:pPr>
            <a:endParaRPr/>
          </a:p>
          <a:p>
            <a:pPr algn="ctr">
              <a:defRPr sz="1200" b="1">
                <a:solidFill>
                  <a:srgbClr val="FF4444"/>
                </a:solidFill>
                <a:latin typeface="Calibri"/>
              </a:defRPr>
            </a:pPr>
            <a:r>
              <a:t>⚠ Скор упадёт на 56 пунктов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647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Симулятор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"/>
    </mc:Choice>
    <mc:Fallback xmlns="">
      <p:transition spd="slow" advTm="22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ни</a:t>
            </a:r>
            <a:r>
              <a:rPr dirty="0"/>
              <a:t> у </a:t>
            </a:r>
            <a:r>
              <a:rPr dirty="0" err="1"/>
              <a:t>кого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695894"/>
              </p:ext>
            </p:extLst>
          </p:nvPr>
        </p:nvGraphicFramePr>
        <p:xfrm>
          <a:off x="1981047" y="164592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101600" marB="10160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9999"/>
                          </a:solidFill>
                          <a:latin typeface="Calibri"/>
                        </a:rPr>
                        <a:t>Kaspi</a:t>
                      </a:r>
                    </a:p>
                  </a:txBody>
                  <a:tcPr marT="101600" marB="10160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9999"/>
                          </a:solidFill>
                          <a:latin typeface="Calibri"/>
                        </a:rPr>
                        <a:t>ПКБ сайт</a:t>
                      </a:r>
                    </a:p>
                  </a:txBody>
                  <a:tcPr marT="101600" marB="10160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AAFF00"/>
                          </a:solidFill>
                          <a:latin typeface="Calibri"/>
                        </a:rPr>
                        <a:t>Nesie</a:t>
                      </a: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999999"/>
                          </a:solidFill>
                          <a:latin typeface="Calibri"/>
                        </a:rPr>
                        <a:t>Живой скор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CC00"/>
                          </a:solidFill>
                          <a:latin typeface="Calibri"/>
                        </a:rPr>
                        <a:t>платно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AAFF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999999"/>
                          </a:solidFill>
                          <a:latin typeface="Calibri"/>
                        </a:rPr>
                        <a:t>Все банки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AAFF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AAFF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999999"/>
                          </a:solidFill>
                          <a:latin typeface="Calibri"/>
                        </a:rPr>
                        <a:t>Симулятор</a:t>
                      </a:r>
                      <a:endParaRPr sz="2000" b="0" dirty="0">
                        <a:solidFill>
                          <a:srgbClr val="999999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AAFF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999999"/>
                          </a:solidFill>
                          <a:latin typeface="Calibri"/>
                        </a:rPr>
                        <a:t>AI</a:t>
                      </a:r>
                      <a:r>
                        <a:rPr lang="ru-RU" sz="2000" b="0" dirty="0">
                          <a:solidFill>
                            <a:srgbClr val="999999"/>
                          </a:solidFill>
                          <a:latin typeface="Calibri"/>
                        </a:rPr>
                        <a:t> аналитик</a:t>
                      </a:r>
                      <a:endParaRPr sz="2000" b="0" dirty="0">
                        <a:solidFill>
                          <a:srgbClr val="999999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555555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AAFF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endParaRPr sz="2000" b="0" dirty="0">
                        <a:solidFill>
                          <a:srgbClr val="999999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555555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555555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AAFF00"/>
                        </a:solidFill>
                        <a:latin typeface="Calibri"/>
                      </a:endParaRPr>
                    </a:p>
                  </a:txBody>
                  <a:tcPr marT="101600" marB="101600">
                    <a:solidFill>
                      <a:srgbClr val="121A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"/>
    </mc:Choice>
    <mc:Fallback xmlns="">
      <p:transition spd="slow" advTm="20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Nesie</a:t>
            </a:r>
            <a:r>
              <a:rPr dirty="0"/>
              <a:t> </a:t>
            </a:r>
            <a:r>
              <a:rPr dirty="0" err="1"/>
              <a:t>зарабатывает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838047" y="1645920"/>
            <a:ext cx="3291840" cy="274320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6647" y="1874520"/>
            <a:ext cx="2834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AFF00"/>
                </a:solidFill>
                <a:latin typeface="Calibri"/>
              </a:defRPr>
            </a:pPr>
            <a:r>
              <a:rPr lang="ru-KZ" dirty="0"/>
              <a:t> </a:t>
            </a:r>
            <a:r>
              <a:rPr dirty="0" err="1"/>
              <a:t>Подписка</a:t>
            </a:r>
            <a:r>
              <a:rPr dirty="0"/>
              <a:t> Pro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990 ₸/</a:t>
            </a:r>
            <a:r>
              <a:rPr dirty="0" err="1"/>
              <a:t>месяц</a:t>
            </a:r>
            <a:endParaRPr dirty="0"/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rPr dirty="0" err="1"/>
              <a:t>Симулятор</a:t>
            </a:r>
            <a:r>
              <a:rPr dirty="0"/>
              <a:t>, </a:t>
            </a:r>
            <a:r>
              <a:rPr dirty="0" err="1"/>
              <a:t>уведомления</a:t>
            </a:r>
            <a:r>
              <a:rPr dirty="0"/>
              <a:t>,</a:t>
            </a:r>
            <a:br>
              <a:rPr dirty="0"/>
            </a:br>
            <a:r>
              <a:rPr dirty="0"/>
              <a:t>AI </a:t>
            </a:r>
            <a:r>
              <a:rPr dirty="0" err="1"/>
              <a:t>советник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449927" y="1645920"/>
            <a:ext cx="3291840" cy="274320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78527" y="1874520"/>
            <a:ext cx="28346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AFF00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Лидогенерация</a:t>
            </a:r>
            <a:endParaRPr dirty="0"/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2 000–8 000 ₸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лид</a:t>
            </a:r>
            <a:endParaRPr dirty="0"/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rPr dirty="0" err="1"/>
              <a:t>Банки</a:t>
            </a:r>
            <a:r>
              <a:rPr dirty="0"/>
              <a:t> </a:t>
            </a:r>
            <a:r>
              <a:rPr dirty="0" err="1"/>
              <a:t>платят</a:t>
            </a:r>
            <a:r>
              <a:rPr dirty="0"/>
              <a:t> </a:t>
            </a:r>
            <a:r>
              <a:rPr dirty="0" err="1"/>
              <a:t>за</a:t>
            </a:r>
            <a:br>
              <a:rPr dirty="0"/>
            </a:br>
            <a:r>
              <a:rPr dirty="0"/>
              <a:t>pre-qualified </a:t>
            </a:r>
            <a:r>
              <a:rPr dirty="0" err="1"/>
              <a:t>заёмщиков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061807" y="1645920"/>
            <a:ext cx="3291840" cy="2743200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0407" y="1874520"/>
            <a:ext cx="2834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AFF00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Кредитный</a:t>
            </a:r>
            <a:r>
              <a:rPr dirty="0"/>
              <a:t> </a:t>
            </a:r>
            <a:r>
              <a:rPr dirty="0" err="1"/>
              <a:t>продукт</a:t>
            </a:r>
            <a:endParaRPr dirty="0"/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Year 2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500" b="0">
                <a:solidFill>
                  <a:srgbClr val="999999"/>
                </a:solidFill>
                <a:latin typeface="Calibri"/>
              </a:defRPr>
            </a:pPr>
            <a:r>
              <a:rPr dirty="0" err="1"/>
              <a:t>Лучшая</a:t>
            </a:r>
            <a:r>
              <a:rPr dirty="0"/>
              <a:t> </a:t>
            </a:r>
            <a:r>
              <a:rPr dirty="0" err="1"/>
              <a:t>скоринговая</a:t>
            </a:r>
            <a:br>
              <a:rPr dirty="0"/>
            </a:br>
            <a:r>
              <a:rPr dirty="0" err="1"/>
              <a:t>модель</a:t>
            </a:r>
            <a:r>
              <a:rPr dirty="0"/>
              <a:t> в </a:t>
            </a:r>
            <a:r>
              <a:rPr dirty="0" err="1"/>
              <a:t>Казахстане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0" y="49377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AFF00"/>
                </a:solidFill>
                <a:latin typeface="Calibri"/>
              </a:defRPr>
            </a:pPr>
            <a:r>
              <a:t>10 000 подписчиков = 9.9 млн ₸/мес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Только на подписках, без лидогенерации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"/>
    </mc:Choice>
    <mc:Fallback xmlns="">
      <p:transition spd="slow" advTm="1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F7D38-11F8-69D1-60D0-1B24C6E9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F1E8A-DD6B-B62C-EDB2-6C7EEEDB6649}"/>
              </a:ext>
            </a:extLst>
          </p:cNvPr>
          <p:cNvSpPr txBox="1"/>
          <p:nvPr/>
        </p:nvSpPr>
        <p:spPr>
          <a:xfrm>
            <a:off x="0" y="1828800"/>
            <a:ext cx="121916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Nesie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036A2-F747-310E-652B-B193E384D641}"/>
              </a:ext>
            </a:extLst>
          </p:cNvPr>
          <p:cNvSpPr txBox="1"/>
          <p:nvPr/>
        </p:nvSpPr>
        <p:spPr>
          <a:xfrm>
            <a:off x="0" y="3383280"/>
            <a:ext cx="1219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99"/>
                </a:solidFill>
                <a:latin typeface="Calibri"/>
              </a:defRPr>
            </a:pPr>
            <a:r>
              <a:rPr lang="ru-RU" sz="2000" dirty="0"/>
              <a:t>10 миллионов казахстанцев которые наконец видят правду о своих деньгах</a:t>
            </a:r>
            <a:endParaRPr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D0826C-7188-2AA4-D794-DC7EE6C089CE}"/>
              </a:ext>
            </a:extLst>
          </p:cNvPr>
          <p:cNvCxnSpPr>
            <a:cxnSpLocks/>
          </p:cNvCxnSpPr>
          <p:nvPr/>
        </p:nvCxnSpPr>
        <p:spPr>
          <a:xfrm>
            <a:off x="3242733" y="3200400"/>
            <a:ext cx="56642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2A9794-87B2-EF38-489B-9D405059EE21}"/>
              </a:ext>
            </a:extLst>
          </p:cNvPr>
          <p:cNvSpPr txBox="1"/>
          <p:nvPr/>
        </p:nvSpPr>
        <p:spPr>
          <a:xfrm>
            <a:off x="1066800" y="5337870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+7758470633</a:t>
            </a:r>
            <a:endParaRPr lang="ru-K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3C4EB-1B38-6331-BF63-856D12DAFC2A}"/>
              </a:ext>
            </a:extLst>
          </p:cNvPr>
          <p:cNvSpPr txBox="1"/>
          <p:nvPr/>
        </p:nvSpPr>
        <p:spPr>
          <a:xfrm>
            <a:off x="5634413" y="5341740"/>
            <a:ext cx="922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Fintech</a:t>
            </a:r>
            <a:endParaRPr lang="ru-K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A04D4-F950-6797-D810-672FCB2CDE73}"/>
              </a:ext>
            </a:extLst>
          </p:cNvPr>
          <p:cNvSpPr txBox="1"/>
          <p:nvPr/>
        </p:nvSpPr>
        <p:spPr>
          <a:xfrm>
            <a:off x="8445379" y="5337870"/>
            <a:ext cx="354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https://github.com/sunvpq/nesie</a:t>
            </a:r>
            <a:endParaRPr lang="ru-K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04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"/>
    </mc:Choice>
    <mc:Fallback xmlns="">
      <p:transition spd="slow" advTm="27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381</Words>
  <Application>Microsoft Office PowerPoint</Application>
  <PresentationFormat>Widescreen</PresentationFormat>
  <Paragraphs>123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Abilmansur Abdullayev</cp:lastModifiedBy>
  <cp:revision>4</cp:revision>
  <dcterms:created xsi:type="dcterms:W3CDTF">2013-01-27T09:14:16Z</dcterms:created>
  <dcterms:modified xsi:type="dcterms:W3CDTF">2026-04-06T20:18:50Z</dcterms:modified>
  <cp:category/>
</cp:coreProperties>
</file>